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走った道が、日本地図になっていく。ランニングアプリ「KOKUDO(国道ラン)」です。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ランニングが続かない、という話はよく聞きます。でも私たちは部活動で、「大会という締切」と「仲間に見られている感覚」がないと自分たちも続けられないことを痛感してきました。ランニングには、そのどちらも無い。だから続かないん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実際に周りのランナーに聞くと、同じ声が返ってきました。「いつも同じ景色でモチベが上がらない」「あと何キロか分からず心が折れる」。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初は画面のモックから始めて、SQLiteでのデータ保存、実際のGPS計測、実地図への可視化と、1週間ごとに「動くもの」を積み重ねてきました。今はFirebase連携を進めています。1枚にまとめる必要はなく、積み上げの記録そのものが資産に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私たちが作ったのは3つです。走った距離が実在の国道の走破距離になり、実地図の上に自分の挑戦が色分けされ、完走までの逆算ナビが伴走します。実際に動いているところを、75秒のデモ動画でご覧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(ここでは話さず、動画の音声/字幕に委ねる)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今ご覧いただいたGPSも地図もデータ保存も、すべてモックなしの本物です。Flutter1本でiOS・Android・Webに対応し、オフラインでも記録が止まりません。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回一番の成果は、完成度そのものより、「見えないと続かない」という仮説を、動くプロダクトで検証できたことです。実際に私たち自身が開発期間中に走ってみて、[実走行データ]という結果が出ました。そして、役割を分担しながら毎週統合し続けるチームの動き方も、大きな学びで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行6路線でコア体験の検証は終わりました。ここからはキャラクター体験と路線選択を広げ、クラウド同期でどの端末からでも続けられるようにし、最終的には全国459路線、日本地図そのものを走破フィールドにしてい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チームは4人。PM・インフラ、フロント実装、データ整理、Firebase認証基盤と、役割を分担しながら作っています。(氏名・Why Youの詳細は割愛し、スライド上の情報に語らせる)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走った道が、日本地図になっていく。KOKUDO、これからも国道を走破していきます。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58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173F66">
              <a:alpha val="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57250"/>
            <a:ext cx="12191695" cy="857250"/>
          </a:xfrm>
          <a:prstGeom prst="rect">
            <a:avLst/>
          </a:prstGeom>
          <a:solidFill>
            <a:srgbClr val="173F66">
              <a:alpha val="10714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714500"/>
            <a:ext cx="12191695" cy="857250"/>
          </a:xfrm>
          <a:prstGeom prst="rect">
            <a:avLst/>
          </a:prstGeom>
          <a:solidFill>
            <a:srgbClr val="173F66">
              <a:alpha val="21429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571750"/>
            <a:ext cx="12191695" cy="857250"/>
          </a:xfrm>
          <a:prstGeom prst="rect">
            <a:avLst/>
          </a:prstGeom>
          <a:solidFill>
            <a:srgbClr val="173F66">
              <a:alpha val="32143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857250"/>
          </a:xfrm>
          <a:prstGeom prst="rect">
            <a:avLst/>
          </a:prstGeom>
          <a:solidFill>
            <a:srgbClr val="173F66">
              <a:alpha val="42857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4286250"/>
            <a:ext cx="12191695" cy="857250"/>
          </a:xfrm>
          <a:prstGeom prst="rect">
            <a:avLst/>
          </a:prstGeom>
          <a:solidFill>
            <a:srgbClr val="173F66">
              <a:alpha val="53571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5143500"/>
            <a:ext cx="12191695" cy="857250"/>
          </a:xfrm>
          <a:prstGeom prst="rect">
            <a:avLst/>
          </a:prstGeom>
          <a:solidFill>
            <a:srgbClr val="173F66">
              <a:alpha val="6428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000750"/>
            <a:ext cx="12191695" cy="857250"/>
          </a:xfrm>
          <a:prstGeom prst="rect">
            <a:avLst/>
          </a:prstGeom>
          <a:solidFill>
            <a:srgbClr val="173F66">
              <a:alpha val="7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2760000">
            <a:off x="8212097" y="4516959"/>
            <a:ext cx="2147875" cy="2147875"/>
          </a:xfrm>
          <a:prstGeom prst="hexagon">
            <a:avLst/>
          </a:prstGeom>
          <a:ln w="12700">
            <a:solidFill>
              <a:srgbClr val="2FA9FF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80000">
            <a:off x="7711882" y="3195324"/>
            <a:ext cx="1496183" cy="1496183"/>
          </a:xfrm>
          <a:prstGeom prst="hexagon">
            <a:avLst/>
          </a:prstGeom>
          <a:ln w="12700">
            <a:solidFill>
              <a:srgbClr val="2FA9FF">
                <a:alpha val="1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1140000">
            <a:off x="8129791" y="3606716"/>
            <a:ext cx="1779964" cy="1779964"/>
          </a:xfrm>
          <a:prstGeom prst="hexagon">
            <a:avLst/>
          </a:prstGeom>
          <a:ln w="12700">
            <a:solidFill>
              <a:srgbClr val="2FA9FF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3180000">
            <a:off x="9793536" y="4967710"/>
            <a:ext cx="1856782" cy="1856782"/>
          </a:xfrm>
          <a:prstGeom prst="hexagon">
            <a:avLst/>
          </a:prstGeom>
          <a:ln w="12700">
            <a:solidFill>
              <a:srgbClr val="2FA9FF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2940000">
            <a:off x="1546659" y="4011383"/>
            <a:ext cx="733214" cy="733214"/>
          </a:xfrm>
          <a:prstGeom prst="hexagon">
            <a:avLst/>
          </a:prstGeom>
          <a:ln w="12700">
            <a:solidFill>
              <a:srgbClr val="2FA9FF">
                <a:alpha val="1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1740000">
            <a:off x="5078287" y="1926024"/>
            <a:ext cx="694133" cy="694133"/>
          </a:xfrm>
          <a:prstGeom prst="hexagon">
            <a:avLst/>
          </a:prstGeom>
          <a:ln w="12700">
            <a:solidFill>
              <a:srgbClr val="2FA9FF">
                <a:alpha val="1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2700000">
            <a:off x="425044" y="2808905"/>
            <a:ext cx="1714701" cy="1714701"/>
          </a:xfrm>
          <a:prstGeom prst="hexagon">
            <a:avLst/>
          </a:prstGeom>
          <a:ln w="12700">
            <a:solidFill>
              <a:srgbClr val="2FA9FF">
                <a:alpha val="1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3240000">
            <a:off x="8042000" y="682137"/>
            <a:ext cx="1236858" cy="1236858"/>
          </a:xfrm>
          <a:prstGeom prst="hexagon">
            <a:avLst/>
          </a:prstGeom>
          <a:ln w="12700">
            <a:solidFill>
              <a:srgbClr val="2FA9FF">
                <a:alpha val="1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660000">
            <a:off x="1919724" y="4858682"/>
            <a:ext cx="1321955" cy="1321955"/>
          </a:xfrm>
          <a:prstGeom prst="hexagon">
            <a:avLst/>
          </a:prstGeom>
          <a:ln w="12700">
            <a:solidFill>
              <a:srgbClr val="2FA9FF">
                <a:alpha val="1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60000">
            <a:off x="8501982" y="1650000"/>
            <a:ext cx="1051075" cy="1051075"/>
          </a:xfrm>
          <a:prstGeom prst="hexagon">
            <a:avLst/>
          </a:prstGeom>
          <a:ln w="12700">
            <a:solidFill>
              <a:srgbClr val="2FA9FF">
                <a:alpha val="1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3360000">
            <a:off x="1824012" y="2992452"/>
            <a:ext cx="2336556" cy="2336556"/>
          </a:xfrm>
          <a:prstGeom prst="hexagon">
            <a:avLst/>
          </a:prstGeom>
          <a:ln w="12700">
            <a:solidFill>
              <a:srgbClr val="2FA9FF">
                <a:alpha val="1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180000">
            <a:off x="7312394" y="425771"/>
            <a:ext cx="981190" cy="981190"/>
          </a:xfrm>
          <a:prstGeom prst="hexagon">
            <a:avLst/>
          </a:prstGeom>
          <a:ln w="12700">
            <a:solidFill>
              <a:srgbClr val="2FA9FF">
                <a:alpha val="1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1320000">
            <a:off x="8590346" y="4939011"/>
            <a:ext cx="1207021" cy="1207021"/>
          </a:xfrm>
          <a:prstGeom prst="hexagon">
            <a:avLst/>
          </a:prstGeom>
          <a:ln w="12700">
            <a:solidFill>
              <a:srgbClr val="2FA9FF">
                <a:alpha val="1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2160000">
            <a:off x="1675879" y="5194310"/>
            <a:ext cx="1350067" cy="1350067"/>
          </a:xfrm>
          <a:prstGeom prst="hexagon">
            <a:avLst/>
          </a:prstGeom>
          <a:ln w="12700">
            <a:solidFill>
              <a:srgbClr val="2FA9FF">
                <a:alpha val="1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2820000">
            <a:off x="5984611" y="3293974"/>
            <a:ext cx="1012959" cy="1012959"/>
          </a:xfrm>
          <a:prstGeom prst="hexagon">
            <a:avLst/>
          </a:prstGeom>
          <a:ln w="12700">
            <a:solidFill>
              <a:srgbClr val="2FA9FF">
                <a:alpha val="1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1620000">
            <a:off x="8157932" y="5251900"/>
            <a:ext cx="1511981" cy="1511981"/>
          </a:xfrm>
          <a:prstGeom prst="hexagon">
            <a:avLst/>
          </a:prstGeom>
          <a:ln w="12700">
            <a:solidFill>
              <a:srgbClr val="2FA9FF">
                <a:alpha val="1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2040000">
            <a:off x="3266243" y="3302362"/>
            <a:ext cx="1630192" cy="1630192"/>
          </a:xfrm>
          <a:prstGeom prst="hexagon">
            <a:avLst/>
          </a:prstGeom>
          <a:ln w="12700">
            <a:solidFill>
              <a:srgbClr val="2FA9FF">
                <a:alpha val="1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120000">
            <a:off x="5636738" y="107645"/>
            <a:ext cx="746701" cy="746701"/>
          </a:xfrm>
          <a:prstGeom prst="hexagon">
            <a:avLst/>
          </a:prstGeom>
          <a:ln w="12700">
            <a:solidFill>
              <a:srgbClr val="2FA9FF">
                <a:alpha val="1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3420000">
            <a:off x="4089849" y="1535082"/>
            <a:ext cx="1295395" cy="1295395"/>
          </a:xfrm>
          <a:prstGeom prst="hexagon">
            <a:avLst/>
          </a:prstGeom>
          <a:ln w="12700">
            <a:solidFill>
              <a:srgbClr val="2FA9FF">
                <a:alpha val="1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1800000">
            <a:off x="3693823" y="2509672"/>
            <a:ext cx="494689" cy="494689"/>
          </a:xfrm>
          <a:prstGeom prst="hexagon">
            <a:avLst/>
          </a:prstGeom>
          <a:ln w="12700">
            <a:solidFill>
              <a:srgbClr val="2FA9FF">
                <a:alpha val="1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1680000">
            <a:off x="2031194" y="540421"/>
            <a:ext cx="1523537" cy="1523537"/>
          </a:xfrm>
          <a:prstGeom prst="hexagon">
            <a:avLst/>
          </a:prstGeom>
          <a:ln w="12700">
            <a:solidFill>
              <a:srgbClr val="2FA9FF">
                <a:alpha val="1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1860000">
            <a:off x="2914145" y="2089916"/>
            <a:ext cx="1898381" cy="1898381"/>
          </a:xfrm>
          <a:prstGeom prst="hexagon">
            <a:avLst/>
          </a:prstGeom>
          <a:ln w="12700">
            <a:solidFill>
              <a:srgbClr val="2FA9FF">
                <a:alpha val="1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0" y="3154680"/>
            <a:ext cx="9006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KOKUDO</a:t>
            </a:r>
            <a:endParaRPr lang="en-US" sz="9600" dirty="0"/>
          </a:p>
        </p:txBody>
      </p:sp>
      <p:sp>
        <p:nvSpPr>
          <p:cNvPr id="33" name="Text 31"/>
          <p:cNvSpPr/>
          <p:nvPr/>
        </p:nvSpPr>
        <p:spPr>
          <a:xfrm>
            <a:off x="45720" y="27889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FA9FF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国道ラン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45720" y="4526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走った道が、</a:t>
            </a:r>
            <a:endParaRPr lang="en-US" sz="4400" dirty="0"/>
          </a:p>
          <a:p>
            <a:pPr algn="l" indent="0" marL="0">
              <a:lnSpc>
                <a:spcPts val="52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日本地図になっていく。</a:t>
            </a:r>
            <a:endParaRPr lang="en-US" sz="4400" dirty="0"/>
          </a:p>
        </p:txBody>
      </p:sp>
      <p:sp>
        <p:nvSpPr>
          <p:cNvPr id="35" name="Shape 33"/>
          <p:cNvSpPr/>
          <p:nvPr/>
        </p:nvSpPr>
        <p:spPr>
          <a:xfrm rot="2760000">
            <a:off x="9127711" y="1018354"/>
            <a:ext cx="2173690" cy="2173690"/>
          </a:xfrm>
          <a:prstGeom prst="hexagon">
            <a:avLst/>
          </a:prstGeom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63550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>
                    <a:alpha val="75000"/>
                  </a:srgbClr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 Program FINAL WEEK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315200" y="63550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B2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【日付PLACEHOLDER: 本番日程に差し替え】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258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60000">
            <a:off x="7861852" y="4106158"/>
            <a:ext cx="2576244" cy="2576244"/>
          </a:xfrm>
          <a:prstGeom prst="hexagon">
            <a:avLst/>
          </a:prstGeom>
          <a:ln w="12700">
            <a:solidFill>
              <a:srgbClr val="2FA9FF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80000">
            <a:off x="7274859" y="2834123"/>
            <a:ext cx="2102286" cy="2102286"/>
          </a:xfrm>
          <a:prstGeom prst="hexagon">
            <a:avLst/>
          </a:prstGeom>
          <a:ln w="12700">
            <a:solidFill>
              <a:srgbClr val="2FA9FF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140000">
            <a:off x="7716960" y="3231197"/>
            <a:ext cx="2308672" cy="2308672"/>
          </a:xfrm>
          <a:prstGeom prst="hexagon">
            <a:avLst/>
          </a:prstGeom>
          <a:ln w="12700">
            <a:solidFill>
              <a:srgbClr val="2FA9FF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3180000">
            <a:off x="9312376" y="4463354"/>
            <a:ext cx="2364539" cy="2364539"/>
          </a:xfrm>
          <a:prstGeom prst="hexagon">
            <a:avLst/>
          </a:prstGeom>
          <a:ln w="12700">
            <a:solidFill>
              <a:srgbClr val="2FA9FF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940000">
            <a:off x="1436761" y="3478138"/>
            <a:ext cx="1547399" cy="1547399"/>
          </a:xfrm>
          <a:prstGeom prst="hexagon">
            <a:avLst/>
          </a:prstGeom>
          <a:ln w="12700">
            <a:solidFill>
              <a:srgbClr val="2FA9FF">
                <a:alpha val="1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0" y="457200"/>
            <a:ext cx="6492240" cy="5852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0" b="1" dirty="0">
                <a:solidFill>
                  <a:srgbClr val="FFFFFF">
                    <a:alpha val="13000"/>
                  </a:srgbClr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01</a:t>
            </a:r>
            <a:endParaRPr lang="en-US" sz="26000" dirty="0"/>
          </a:p>
        </p:txBody>
      </p:sp>
      <p:sp>
        <p:nvSpPr>
          <p:cNvPr id="8" name="Shape 6"/>
          <p:cNvSpPr/>
          <p:nvPr/>
        </p:nvSpPr>
        <p:spPr>
          <a:xfrm>
            <a:off x="10972800" y="4937760"/>
            <a:ext cx="502920" cy="64008"/>
          </a:xfrm>
          <a:prstGeom prst="rect">
            <a:avLst/>
          </a:prstGeom>
          <a:solidFill>
            <a:srgbClr val="2FA9FF"/>
          </a:solidFill>
          <a:ln/>
        </p:spPr>
      </p:sp>
      <p:sp>
        <p:nvSpPr>
          <p:cNvPr id="9" name="Text 7"/>
          <p:cNvSpPr/>
          <p:nvPr/>
        </p:nvSpPr>
        <p:spPr>
          <a:xfrm>
            <a:off x="5394960" y="507492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課題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5394960" y="612648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FFFFFF">
                    <a:alpha val="85000"/>
                  </a:srgbClr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なぜ作ったか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457200" cy="73152"/>
          </a:xfrm>
          <a:prstGeom prst="rect">
            <a:avLst/>
          </a:prstGeom>
          <a:solidFill>
            <a:srgbClr val="2FA9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58368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2FA9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 ─ WHY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6F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よくある話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1C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ランニングは、</a:t>
            </a:r>
            <a:endParaRPr lang="en-US" sz="4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1C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3日坊主。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5852160" y="1463040"/>
            <a:ext cx="0" cy="4754880"/>
          </a:xfrm>
          <a:prstGeom prst="line">
            <a:avLst/>
          </a:prstGeom>
          <a:noFill/>
          <a:ln w="19050">
            <a:solidFill>
              <a:srgbClr val="E1EE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0" y="1508760"/>
            <a:ext cx="5239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A9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私たちだから詳しい理由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17920" y="2103120"/>
            <a:ext cx="523951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1C2B36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締切と、</a:t>
            </a:r>
            <a:endParaRPr lang="en-US" sz="4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1C2B36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仲間の目。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217920" y="4160520"/>
            <a:ext cx="523951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800" b="1" dirty="0">
                <a:solidFill>
                  <a:srgbClr val="5C6F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その両方が、無い。</a:t>
            </a:r>
            <a:endParaRPr lang="en-US" sz="28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800" b="1" dirty="0">
                <a:solidFill>
                  <a:srgbClr val="5C6F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だから、続かない。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217920" y="5623560"/>
            <a:ext cx="5239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472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【実体験エピソードPLACEHOLDER】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457200" cy="73152"/>
          </a:xfrm>
          <a:prstGeom prst="rect">
            <a:avLst/>
          </a:prstGeom>
          <a:solidFill>
            <a:srgbClr val="2FA9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58368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2FA9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 ─ VOICE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920240" cy="1920240"/>
          </a:xfrm>
          <a:prstGeom prst="rect">
            <a:avLst/>
          </a:prstGeom>
          <a:solidFill>
            <a:srgbClr val="D9D9D9"/>
          </a:solidFill>
          <a:ln w="12700">
            <a:solidFill>
              <a:srgbClr val="BEBEB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1920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[IMG: 人物写真1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ランニング歴3年/会社員]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880360" y="1463040"/>
            <a:ext cx="8549640" cy="1737360"/>
          </a:xfrm>
          <a:prstGeom prst="roundRect">
            <a:avLst>
              <a:gd name="adj" fmla="val 3158"/>
            </a:avLst>
          </a:prstGeom>
          <a:solidFill>
            <a:srgbClr val="F3FAFD"/>
          </a:solidFill>
          <a:ln w="12700">
            <a:solidFill>
              <a:srgbClr val="2FA9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1627632"/>
            <a:ext cx="7955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C2B36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いつも同じ景色。</a:t>
            </a:r>
            <a:endParaRPr lang="en-US" sz="28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C2B36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正直、飽きる。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0" y="278892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F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ランニング歴3年・会社員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377440" y="3840480"/>
            <a:ext cx="1920240" cy="1920240"/>
          </a:xfrm>
          <a:prstGeom prst="rect">
            <a:avLst/>
          </a:prstGeom>
          <a:solidFill>
            <a:srgbClr val="D9D9D9"/>
          </a:solidFill>
          <a:ln w="12700">
            <a:solidFill>
              <a:srgbClr val="BEBE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3840480"/>
            <a:ext cx="1920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[IMG: 人物写真2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ランニング初心者]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26280" y="3840480"/>
            <a:ext cx="6903720" cy="1737360"/>
          </a:xfrm>
          <a:prstGeom prst="roundRect">
            <a:avLst>
              <a:gd name="adj" fmla="val 3158"/>
            </a:avLst>
          </a:prstGeom>
          <a:solidFill>
            <a:srgbClr val="F3FAFD"/>
          </a:solidFill>
          <a:ln w="12700">
            <a:solidFill>
              <a:srgbClr val="2FA9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4005072"/>
            <a:ext cx="6309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C2B36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あと何キロか、</a:t>
            </a:r>
            <a:endParaRPr lang="en-US" sz="28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C2B36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分からない。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846320" y="516636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F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ランニング初心者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62636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472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【ユーザーの声PLACEHOLDER】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258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60000">
            <a:off x="7861852" y="4106158"/>
            <a:ext cx="2576244" cy="2576244"/>
          </a:xfrm>
          <a:prstGeom prst="hexagon">
            <a:avLst/>
          </a:prstGeom>
          <a:ln w="12700">
            <a:solidFill>
              <a:srgbClr val="2F74B8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80000">
            <a:off x="7274859" y="2834123"/>
            <a:ext cx="2102286" cy="2102286"/>
          </a:xfrm>
          <a:prstGeom prst="hexagon">
            <a:avLst/>
          </a:prstGeom>
          <a:ln w="12700">
            <a:solidFill>
              <a:srgbClr val="2F74B8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140000">
            <a:off x="7716960" y="3231197"/>
            <a:ext cx="2308672" cy="2308672"/>
          </a:xfrm>
          <a:prstGeom prst="hexagon">
            <a:avLst/>
          </a:prstGeom>
          <a:ln w="12700">
            <a:solidFill>
              <a:srgbClr val="2F74B8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3180000">
            <a:off x="9312376" y="4463354"/>
            <a:ext cx="2364539" cy="2364539"/>
          </a:xfrm>
          <a:prstGeom prst="hexagon">
            <a:avLst/>
          </a:prstGeom>
          <a:ln w="12700">
            <a:solidFill>
              <a:srgbClr val="2F74B8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940000">
            <a:off x="1436761" y="3478138"/>
            <a:ext cx="1547399" cy="1547399"/>
          </a:xfrm>
          <a:prstGeom prst="hexagon">
            <a:avLst/>
          </a:prstGeom>
          <a:ln w="12700">
            <a:solidFill>
              <a:srgbClr val="2F74B8">
                <a:alpha val="1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57200"/>
            <a:ext cx="6492240" cy="5852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0" b="1" dirty="0">
                <a:solidFill>
                  <a:srgbClr val="FFFFFF">
                    <a:alpha val="13000"/>
                  </a:srgbClr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02</a:t>
            </a:r>
            <a:endParaRPr lang="en-US" sz="26000" dirty="0"/>
          </a:p>
        </p:txBody>
      </p:sp>
      <p:sp>
        <p:nvSpPr>
          <p:cNvPr id="8" name="Shape 6"/>
          <p:cNvSpPr/>
          <p:nvPr/>
        </p:nvSpPr>
        <p:spPr>
          <a:xfrm>
            <a:off x="822960" y="4937760"/>
            <a:ext cx="502920" cy="64008"/>
          </a:xfrm>
          <a:prstGeom prst="rect">
            <a:avLst/>
          </a:prstGeom>
          <a:solidFill>
            <a:srgbClr val="2F74B8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507492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プロセス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822960" y="612648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>
                    <a:alpha val="85000"/>
                  </a:srgbClr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どう作ったか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457200" cy="73152"/>
          </a:xfrm>
          <a:prstGeom prst="rect">
            <a:avLst/>
          </a:prstGeom>
          <a:solidFill>
            <a:srgbClr val="2F74B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58368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2F74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プロセス ─ HOW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2468880" cy="3108960"/>
          </a:xfrm>
          <a:prstGeom prst="rect">
            <a:avLst/>
          </a:prstGeom>
          <a:solidFill>
            <a:srgbClr val="D9D9D9"/>
          </a:solidFill>
          <a:ln w="12700">
            <a:solidFill>
              <a:srgbClr val="BEBEB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[IMG: v1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画面モック]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73552" y="3383280"/>
            <a:ext cx="201168" cy="0"/>
          </a:xfrm>
          <a:prstGeom prst="line">
            <a:avLst/>
          </a:prstGeom>
          <a:noFill/>
          <a:ln w="19050">
            <a:solidFill>
              <a:srgbClr val="2F74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47872" y="2286000"/>
            <a:ext cx="1691640" cy="2194560"/>
          </a:xfrm>
          <a:prstGeom prst="rect">
            <a:avLst/>
          </a:prstGeom>
          <a:solidFill>
            <a:srgbClr val="D9D9D9"/>
          </a:solidFill>
          <a:ln w="12700">
            <a:solidFill>
              <a:srgbClr val="BEBE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47872" y="2286000"/>
            <a:ext cx="1691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[IMG: v2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SQLite]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12664" y="3383280"/>
            <a:ext cx="201168" cy="0"/>
          </a:xfrm>
          <a:prstGeom prst="line">
            <a:avLst/>
          </a:prstGeom>
          <a:noFill/>
          <a:ln w="19050">
            <a:solidFill>
              <a:srgbClr val="2F74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86984" y="2286000"/>
            <a:ext cx="1691640" cy="2194560"/>
          </a:xfrm>
          <a:prstGeom prst="rect">
            <a:avLst/>
          </a:prstGeom>
          <a:solidFill>
            <a:srgbClr val="D9D9D9"/>
          </a:solidFill>
          <a:ln w="12700">
            <a:solidFill>
              <a:srgbClr val="BEBE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86984" y="2286000"/>
            <a:ext cx="1691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[IMG: v3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実GPS]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51776" y="3383280"/>
            <a:ext cx="201168" cy="0"/>
          </a:xfrm>
          <a:prstGeom prst="line">
            <a:avLst/>
          </a:prstGeom>
          <a:noFill/>
          <a:ln w="19050">
            <a:solidFill>
              <a:srgbClr val="2F74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26096" y="2286000"/>
            <a:ext cx="1691640" cy="2194560"/>
          </a:xfrm>
          <a:prstGeom prst="rect">
            <a:avLst/>
          </a:prstGeom>
          <a:solidFill>
            <a:srgbClr val="D9D9D9"/>
          </a:solidFill>
          <a:ln w="12700">
            <a:solidFill>
              <a:srgbClr val="BEBE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26096" y="2286000"/>
            <a:ext cx="1691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[IMG: v4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実地図]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390888" y="3383280"/>
            <a:ext cx="201168" cy="0"/>
          </a:xfrm>
          <a:prstGeom prst="line">
            <a:avLst/>
          </a:prstGeom>
          <a:noFill/>
          <a:ln w="19050">
            <a:solidFill>
              <a:srgbClr val="2F74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65208" y="2286000"/>
            <a:ext cx="1691640" cy="2194560"/>
          </a:xfrm>
          <a:prstGeom prst="rect">
            <a:avLst/>
          </a:prstGeom>
          <a:solidFill>
            <a:srgbClr val="D9D9D9"/>
          </a:solidFill>
          <a:ln w="12700">
            <a:solidFill>
              <a:srgbClr val="BEBE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65208" y="2286000"/>
            <a:ext cx="1691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[IMG: v5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Firebase]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525780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1C2B36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動くものを、</a:t>
            </a:r>
            <a:endParaRPr lang="en-US" sz="4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1C2B36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毎週見せる。</a:t>
            </a:r>
            <a:endParaRPr lang="en-US" sz="4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258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60000">
            <a:off x="7861852" y="4106158"/>
            <a:ext cx="2576244" cy="2576244"/>
          </a:xfrm>
          <a:prstGeom prst="hexagon">
            <a:avLst/>
          </a:prstGeom>
          <a:ln w="12700">
            <a:solidFill>
              <a:srgbClr val="FFB238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80000">
            <a:off x="7274859" y="2834123"/>
            <a:ext cx="2102286" cy="2102286"/>
          </a:xfrm>
          <a:prstGeom prst="hexagon">
            <a:avLst/>
          </a:prstGeom>
          <a:ln w="12700">
            <a:solidFill>
              <a:srgbClr val="FFB238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140000">
            <a:off x="7716960" y="3231197"/>
            <a:ext cx="2308672" cy="2308672"/>
          </a:xfrm>
          <a:prstGeom prst="hexagon">
            <a:avLst/>
          </a:prstGeom>
          <a:ln w="12700">
            <a:solidFill>
              <a:srgbClr val="FFB238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3180000">
            <a:off x="9312376" y="4463354"/>
            <a:ext cx="2364539" cy="2364539"/>
          </a:xfrm>
          <a:prstGeom prst="hexagon">
            <a:avLst/>
          </a:prstGeom>
          <a:ln w="12700">
            <a:solidFill>
              <a:srgbClr val="FFB238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940000">
            <a:off x="1436761" y="3478138"/>
            <a:ext cx="1547399" cy="1547399"/>
          </a:xfrm>
          <a:prstGeom prst="hexagon">
            <a:avLst/>
          </a:prstGeom>
          <a:ln w="12700">
            <a:solidFill>
              <a:srgbClr val="FFB238">
                <a:alpha val="1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0" y="457200"/>
            <a:ext cx="6492240" cy="5852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0" b="1" dirty="0">
                <a:solidFill>
                  <a:srgbClr val="FFFFFF">
                    <a:alpha val="13000"/>
                  </a:srgbClr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03</a:t>
            </a:r>
            <a:endParaRPr lang="en-US" sz="26000" dirty="0"/>
          </a:p>
        </p:txBody>
      </p:sp>
      <p:sp>
        <p:nvSpPr>
          <p:cNvPr id="8" name="Shape 6"/>
          <p:cNvSpPr/>
          <p:nvPr/>
        </p:nvSpPr>
        <p:spPr>
          <a:xfrm>
            <a:off x="10972800" y="4937760"/>
            <a:ext cx="502920" cy="64008"/>
          </a:xfrm>
          <a:prstGeom prst="rect">
            <a:avLst/>
          </a:prstGeom>
          <a:solidFill>
            <a:srgbClr val="FFB238"/>
          </a:solidFill>
          <a:ln/>
        </p:spPr>
      </p:sp>
      <p:sp>
        <p:nvSpPr>
          <p:cNvPr id="9" name="Text 7"/>
          <p:cNvSpPr/>
          <p:nvPr/>
        </p:nvSpPr>
        <p:spPr>
          <a:xfrm>
            <a:off x="5394960" y="507492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解決策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5394960" y="612648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FFFFFF">
                    <a:alpha val="85000"/>
                  </a:srgbClr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何を作ったか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457200" cy="73152"/>
          </a:xfrm>
          <a:prstGeom prst="rect">
            <a:avLst/>
          </a:prstGeom>
          <a:solidFill>
            <a:srgbClr val="FFB23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58368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FFB2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解決策 ─ WHAT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6035040" cy="4572000"/>
          </a:xfrm>
          <a:prstGeom prst="roundRect">
            <a:avLst>
              <a:gd name="adj" fmla="val 1200"/>
            </a:avLst>
          </a:prstGeom>
          <a:solidFill>
            <a:srgbClr val="F3FAFD"/>
          </a:solidFill>
          <a:ln w="12700">
            <a:solidFill>
              <a:srgbClr val="E1EE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103120"/>
            <a:ext cx="5394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1C2B36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距離が、</a:t>
            </a:r>
            <a:endParaRPr lang="en-US" sz="4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1C2B36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国道になる。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6995160" y="1417320"/>
            <a:ext cx="4480560" cy="2148840"/>
          </a:xfrm>
          <a:prstGeom prst="roundRect">
            <a:avLst>
              <a:gd name="adj" fmla="val 2553"/>
            </a:avLst>
          </a:prstGeom>
          <a:solidFill>
            <a:srgbClr val="1C2B36"/>
          </a:solidFill>
          <a:ln/>
        </p:spPr>
      </p:sp>
      <p:sp>
        <p:nvSpPr>
          <p:cNvPr id="7" name="Text 5"/>
          <p:cNvSpPr/>
          <p:nvPr/>
        </p:nvSpPr>
        <p:spPr>
          <a:xfrm>
            <a:off x="7269480" y="1737360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地図が、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色づく。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6995160" y="3749040"/>
            <a:ext cx="4480560" cy="2240280"/>
          </a:xfrm>
          <a:prstGeom prst="roundRect">
            <a:avLst>
              <a:gd name="adj" fmla="val 2449"/>
            </a:avLst>
          </a:prstGeom>
          <a:solidFill>
            <a:srgbClr val="FFB238"/>
          </a:solidFill>
          <a:ln/>
        </p:spPr>
      </p:sp>
      <p:sp>
        <p:nvSpPr>
          <p:cNvPr id="9" name="Text 7"/>
          <p:cNvSpPr/>
          <p:nvPr/>
        </p:nvSpPr>
        <p:spPr>
          <a:xfrm>
            <a:off x="7269480" y="4069080"/>
            <a:ext cx="3931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4A2F00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逆算で、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4A2F00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ナビする。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1051560" y="434340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5C6F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グレー = 未走破</a:t>
            </a:r>
            <a:endParaRPr lang="en-US" sz="24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5C6F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ネオン = 挑戦中</a:t>
            </a:r>
            <a:endParaRPr lang="en-US" sz="24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5C6F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ゴールド = 完走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31520" y="617220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72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続きは、動画で。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84248" y="914400"/>
            <a:ext cx="8229600" cy="5029200"/>
          </a:xfrm>
          <a:prstGeom prst="rect">
            <a:avLst/>
          </a:prstGeom>
          <a:solidFill>
            <a:srgbClr val="1C2B36"/>
          </a:solidFill>
          <a:ln w="25400">
            <a:solidFill>
              <a:srgbClr val="2FA9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984248" y="19202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2FA9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984248" y="3383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デモ動画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984248" y="4206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FA9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75秒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984248" y="5394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準備中 / 後日埋め込み ─ KOKUDO_demo.mp4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457200" cy="73152"/>
          </a:xfrm>
          <a:prstGeom prst="rect">
            <a:avLst/>
          </a:prstGeom>
          <a:solidFill>
            <a:srgbClr val="FFB23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58368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FFB2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解決策 ─ TECH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5669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400" b="1" dirty="0">
                <a:solidFill>
                  <a:srgbClr val="1C2B36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モックは、</a:t>
            </a:r>
            <a:endParaRPr lang="en-US" sz="44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400" b="1" dirty="0">
                <a:solidFill>
                  <a:srgbClr val="1C2B36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ひとつも無い。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42900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5C6F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GPS・地図・保存。</a:t>
            </a:r>
            <a:endParaRPr lang="en-US" sz="24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5C6F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すべて本物。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0" y="1554480"/>
            <a:ext cx="4599432" cy="0"/>
          </a:xfrm>
          <a:prstGeom prst="line">
            <a:avLst/>
          </a:prstGeom>
          <a:noFill/>
          <a:ln w="12700">
            <a:solidFill>
              <a:srgbClr val="E1EE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0" y="1783080"/>
            <a:ext cx="45994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1C2B36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1本で、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1C2B36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全OSに。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6858000" y="3639312"/>
            <a:ext cx="128016" cy="128016"/>
          </a:xfrm>
          <a:prstGeom prst="ellipse">
            <a:avLst/>
          </a:prstGeom>
          <a:solidFill>
            <a:srgbClr val="FFB238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0" y="34747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GPS × MapLibre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132320" y="39319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F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実測・実地図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0" y="4553712"/>
            <a:ext cx="128016" cy="128016"/>
          </a:xfrm>
          <a:prstGeom prst="ellipse">
            <a:avLst/>
          </a:prstGeom>
          <a:solidFill>
            <a:srgbClr val="FFB238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0" y="43891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端末内SQLite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132320" y="48463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F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オフラインでも止まらない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0" y="5440680"/>
            <a:ext cx="4599432" cy="0"/>
          </a:xfrm>
          <a:prstGeom prst="line">
            <a:avLst/>
          </a:prstGeom>
          <a:noFill/>
          <a:ln w="12700">
            <a:solidFill>
              <a:srgbClr val="E1EEF5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258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60000">
            <a:off x="7861852" y="4106158"/>
            <a:ext cx="2576244" cy="2576244"/>
          </a:xfrm>
          <a:prstGeom prst="hexagon">
            <a:avLst/>
          </a:prstGeom>
          <a:ln w="12700">
            <a:solidFill>
              <a:srgbClr val="34C98A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80000">
            <a:off x="7274859" y="2834123"/>
            <a:ext cx="2102286" cy="2102286"/>
          </a:xfrm>
          <a:prstGeom prst="hexagon">
            <a:avLst/>
          </a:prstGeom>
          <a:ln w="12700">
            <a:solidFill>
              <a:srgbClr val="34C98A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140000">
            <a:off x="7716960" y="3231197"/>
            <a:ext cx="2308672" cy="2308672"/>
          </a:xfrm>
          <a:prstGeom prst="hexagon">
            <a:avLst/>
          </a:prstGeom>
          <a:ln w="12700">
            <a:solidFill>
              <a:srgbClr val="34C98A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3180000">
            <a:off x="9312376" y="4463354"/>
            <a:ext cx="2364539" cy="2364539"/>
          </a:xfrm>
          <a:prstGeom prst="hexagon">
            <a:avLst/>
          </a:prstGeom>
          <a:ln w="12700">
            <a:solidFill>
              <a:srgbClr val="34C98A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940000">
            <a:off x="1436761" y="3478138"/>
            <a:ext cx="1547399" cy="1547399"/>
          </a:xfrm>
          <a:prstGeom prst="hexagon">
            <a:avLst/>
          </a:prstGeom>
          <a:ln w="12700">
            <a:solidFill>
              <a:srgbClr val="34C98A">
                <a:alpha val="1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57200"/>
            <a:ext cx="6492240" cy="5852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0" b="1" dirty="0">
                <a:solidFill>
                  <a:srgbClr val="FFFFFF">
                    <a:alpha val="13000"/>
                  </a:srgbClr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04</a:t>
            </a:r>
            <a:endParaRPr lang="en-US" sz="26000" dirty="0"/>
          </a:p>
        </p:txBody>
      </p:sp>
      <p:sp>
        <p:nvSpPr>
          <p:cNvPr id="8" name="Shape 6"/>
          <p:cNvSpPr/>
          <p:nvPr/>
        </p:nvSpPr>
        <p:spPr>
          <a:xfrm>
            <a:off x="822960" y="4937760"/>
            <a:ext cx="502920" cy="64008"/>
          </a:xfrm>
          <a:prstGeom prst="rect">
            <a:avLst/>
          </a:prstGeom>
          <a:solidFill>
            <a:srgbClr val="34C98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507492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成果と展望</a:t>
            </a:r>
            <a:endParaRPr lang="en-US" sz="7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457200" cy="73152"/>
          </a:xfrm>
          <a:prstGeom prst="rect">
            <a:avLst/>
          </a:prstGeom>
          <a:solidFill>
            <a:srgbClr val="34C98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58368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34C9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成果と展望 ─ LEARNING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1C2B36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見えないと、</a:t>
            </a:r>
            <a:endParaRPr lang="en-US" sz="4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1C2B36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続かない。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6126480" y="1463040"/>
            <a:ext cx="0" cy="4846320"/>
          </a:xfrm>
          <a:prstGeom prst="line">
            <a:avLst/>
          </a:prstGeom>
          <a:noFill/>
          <a:ln w="19050">
            <a:solidFill>
              <a:srgbClr val="E1EE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0" y="14630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6F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プロダクトの学び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92240" y="201168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1C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動く地図と逆算ナビで、</a:t>
            </a:r>
            <a:endParaRPr lang="en-US" sz="24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1C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仮説を検証した。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92240" y="34290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72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実績: 【PLACEHOLDER】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92240" y="42062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6F7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チームの学び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92240" y="475488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1C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分担しても、</a:t>
            </a:r>
            <a:endParaRPr lang="en-US" sz="24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1C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毎週見せれば、</a:t>
            </a:r>
            <a:endParaRPr lang="en-US" sz="24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1C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ひとつになる。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457200" cy="73152"/>
          </a:xfrm>
          <a:prstGeom prst="rect">
            <a:avLst/>
          </a:prstGeom>
          <a:solidFill>
            <a:srgbClr val="34C98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58368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34C9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成果と展望 ─ NEXT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1C2B36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先行6路線の検証、完了。</a:t>
            </a:r>
            <a:endParaRPr lang="en-US" sz="4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1C2B36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次は「広げる」フェーズへ。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1005840" y="3246120"/>
            <a:ext cx="0" cy="3063240"/>
          </a:xfrm>
          <a:prstGeom prst="line">
            <a:avLst/>
          </a:prstGeom>
          <a:noFill/>
          <a:ln w="25400">
            <a:solidFill>
              <a:srgbClr val="E1EE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" y="3392424"/>
            <a:ext cx="128016" cy="128016"/>
          </a:xfrm>
          <a:prstGeom prst="ellipse">
            <a:avLst/>
          </a:prstGeom>
          <a:solidFill>
            <a:srgbClr val="34C98A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3246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4C9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直近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017520" y="317296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2B36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キャラクターと走る。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941832" y="4581144"/>
            <a:ext cx="128016" cy="128016"/>
          </a:xfrm>
          <a:prstGeom prst="ellipse">
            <a:avLst/>
          </a:prstGeom>
          <a:solidFill>
            <a:srgbClr val="34C98A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44348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4C9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中期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017520" y="436168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2B36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どこからでも続く。</a:t>
            </a:r>
            <a:endParaRPr lang="en-US" sz="4000" dirty="0"/>
          </a:p>
        </p:txBody>
      </p:sp>
      <p:sp>
        <p:nvSpPr>
          <p:cNvPr id="12" name="Shape 10"/>
          <p:cNvSpPr/>
          <p:nvPr/>
        </p:nvSpPr>
        <p:spPr>
          <a:xfrm>
            <a:off x="941832" y="5769864"/>
            <a:ext cx="128016" cy="128016"/>
          </a:xfrm>
          <a:prstGeom prst="ellipse">
            <a:avLst/>
          </a:prstGeom>
          <a:solidFill>
            <a:srgbClr val="34C98A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56235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4C9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長期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017520" y="555040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2B36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全国459路線へ。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457200" cy="73152"/>
          </a:xfrm>
          <a:prstGeom prst="rect">
            <a:avLst/>
          </a:prstGeom>
          <a:solidFill>
            <a:srgbClr val="2258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58368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22588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TEAM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606040" cy="2286000"/>
          </a:xfrm>
          <a:prstGeom prst="rect">
            <a:avLst/>
          </a:prstGeom>
          <a:solidFill>
            <a:srgbClr val="D9D9D9"/>
          </a:solidFill>
          <a:ln w="12700">
            <a:solidFill>
              <a:srgbClr val="BEBEB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2606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[IMG: 写真]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【氏名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C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PLACEHOLDER】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45720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588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PM / インフラ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538728" y="1965960"/>
            <a:ext cx="2606040" cy="2286000"/>
          </a:xfrm>
          <a:prstGeom prst="rect">
            <a:avLst/>
          </a:prstGeom>
          <a:solidFill>
            <a:srgbClr val="D9D9D9"/>
          </a:solidFill>
          <a:ln w="12700">
            <a:solidFill>
              <a:srgbClr val="BEBEB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38728" y="1965960"/>
            <a:ext cx="2606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[IMG: 写真]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38728" y="434340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由美穂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C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【姓PLACEHOLDER】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538728" y="50749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588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フロント実装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345936" y="1463040"/>
            <a:ext cx="2606040" cy="2286000"/>
          </a:xfrm>
          <a:prstGeom prst="rect">
            <a:avLst/>
          </a:prstGeom>
          <a:solidFill>
            <a:srgbClr val="D9D9D9"/>
          </a:solidFill>
          <a:ln w="12700">
            <a:solidFill>
              <a:srgbClr val="BEBEB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45936" y="1463040"/>
            <a:ext cx="2606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[IMG: 写真]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45936" y="384048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新野琉壱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345936" y="45720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588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データ整理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153144" y="1965960"/>
            <a:ext cx="2606040" cy="2286000"/>
          </a:xfrm>
          <a:prstGeom prst="rect">
            <a:avLst/>
          </a:prstGeom>
          <a:solidFill>
            <a:srgbClr val="D9D9D9"/>
          </a:solidFill>
          <a:ln w="12700">
            <a:solidFill>
              <a:srgbClr val="BEBE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53144" y="1965960"/>
            <a:ext cx="2606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[IMG: 写真]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53144" y="434340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荒野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C2B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【名PLACEHOLDER】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153144" y="50749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588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Firebase担当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72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所属・詳細は決まり次第、追記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258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173F66">
              <a:alpha val="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57250"/>
            <a:ext cx="12191695" cy="857250"/>
          </a:xfrm>
          <a:prstGeom prst="rect">
            <a:avLst/>
          </a:prstGeom>
          <a:solidFill>
            <a:srgbClr val="173F66">
              <a:alpha val="10714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714500"/>
            <a:ext cx="12191695" cy="857250"/>
          </a:xfrm>
          <a:prstGeom prst="rect">
            <a:avLst/>
          </a:prstGeom>
          <a:solidFill>
            <a:srgbClr val="173F66">
              <a:alpha val="21429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571750"/>
            <a:ext cx="12191695" cy="857250"/>
          </a:xfrm>
          <a:prstGeom prst="rect">
            <a:avLst/>
          </a:prstGeom>
          <a:solidFill>
            <a:srgbClr val="173F66">
              <a:alpha val="32143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3429000"/>
            <a:ext cx="12191695" cy="857250"/>
          </a:xfrm>
          <a:prstGeom prst="rect">
            <a:avLst/>
          </a:prstGeom>
          <a:solidFill>
            <a:srgbClr val="173F66">
              <a:alpha val="42857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4286250"/>
            <a:ext cx="12191695" cy="857250"/>
          </a:xfrm>
          <a:prstGeom prst="rect">
            <a:avLst/>
          </a:prstGeom>
          <a:solidFill>
            <a:srgbClr val="173F66">
              <a:alpha val="53571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5143500"/>
            <a:ext cx="12191695" cy="857250"/>
          </a:xfrm>
          <a:prstGeom prst="rect">
            <a:avLst/>
          </a:prstGeom>
          <a:solidFill>
            <a:srgbClr val="173F66">
              <a:alpha val="6428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6000750"/>
            <a:ext cx="12191695" cy="857250"/>
          </a:xfrm>
          <a:prstGeom prst="rect">
            <a:avLst/>
          </a:prstGeom>
          <a:solidFill>
            <a:srgbClr val="173F66">
              <a:alpha val="7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2760000">
            <a:off x="8344562" y="4672325"/>
            <a:ext cx="1985865" cy="1985865"/>
          </a:xfrm>
          <a:prstGeom prst="hexagon">
            <a:avLst/>
          </a:prstGeom>
          <a:ln w="12700">
            <a:solidFill>
              <a:srgbClr val="2FA9FF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80000">
            <a:off x="7785980" y="3256566"/>
            <a:ext cx="1393417" cy="1393417"/>
          </a:xfrm>
          <a:prstGeom prst="hexagon">
            <a:avLst/>
          </a:prstGeom>
          <a:ln w="12700">
            <a:solidFill>
              <a:srgbClr val="2FA9FF">
                <a:alpha val="1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1140000">
            <a:off x="8230178" y="3698030"/>
            <a:ext cx="1651400" cy="1651400"/>
          </a:xfrm>
          <a:prstGeom prst="hexagon">
            <a:avLst/>
          </a:prstGeom>
          <a:ln w="12700">
            <a:solidFill>
              <a:srgbClr val="2FA9FF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3180000">
            <a:off x="9921983" y="5102349"/>
            <a:ext cx="1721234" cy="1721234"/>
          </a:xfrm>
          <a:prstGeom prst="hexagon">
            <a:avLst/>
          </a:prstGeom>
          <a:ln w="12700">
            <a:solidFill>
              <a:srgbClr val="2FA9FF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2940000">
            <a:off x="1551168" y="4033261"/>
            <a:ext cx="699809" cy="699809"/>
          </a:xfrm>
          <a:prstGeom prst="hexagon">
            <a:avLst/>
          </a:prstGeom>
          <a:ln w="12700">
            <a:solidFill>
              <a:srgbClr val="2FA9FF">
                <a:alpha val="1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1740000">
            <a:off x="5091472" y="1935351"/>
            <a:ext cx="664281" cy="664281"/>
          </a:xfrm>
          <a:prstGeom prst="hexagon">
            <a:avLst/>
          </a:prstGeom>
          <a:ln w="12700">
            <a:solidFill>
              <a:srgbClr val="2FA9FF">
                <a:alpha val="1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2700000">
            <a:off x="430019" y="2875877"/>
            <a:ext cx="1592070" cy="1592070"/>
          </a:xfrm>
          <a:prstGeom prst="hexagon">
            <a:avLst/>
          </a:prstGeom>
          <a:ln w="12700">
            <a:solidFill>
              <a:srgbClr val="2FA9FF">
                <a:alpha val="1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3240000">
            <a:off x="8100134" y="691747"/>
            <a:ext cx="1157668" cy="1157668"/>
          </a:xfrm>
          <a:prstGeom prst="hexagon">
            <a:avLst/>
          </a:prstGeom>
          <a:ln w="12700">
            <a:solidFill>
              <a:srgbClr val="2FA9FF">
                <a:alpha val="1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660000">
            <a:off x="1935077" y="4934973"/>
            <a:ext cx="1235028" cy="1235028"/>
          </a:xfrm>
          <a:prstGeom prst="hexagon">
            <a:avLst/>
          </a:prstGeom>
          <a:ln w="12700">
            <a:solidFill>
              <a:srgbClr val="2FA9FF">
                <a:alpha val="1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60000">
            <a:off x="8549527" y="1667703"/>
            <a:ext cx="988773" cy="988773"/>
          </a:xfrm>
          <a:prstGeom prst="hexagon">
            <a:avLst/>
          </a:prstGeom>
          <a:ln w="12700">
            <a:solidFill>
              <a:srgbClr val="2FA9FF">
                <a:alpha val="1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3360000">
            <a:off x="1857172" y="3111029"/>
            <a:ext cx="2157393" cy="2157393"/>
          </a:xfrm>
          <a:prstGeom prst="hexagon">
            <a:avLst/>
          </a:prstGeom>
          <a:ln w="12700">
            <a:solidFill>
              <a:srgbClr val="2FA9FF">
                <a:alpha val="1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180000">
            <a:off x="7348888" y="429825"/>
            <a:ext cx="925242" cy="925242"/>
          </a:xfrm>
          <a:prstGeom prst="hexagon">
            <a:avLst/>
          </a:prstGeom>
          <a:ln w="12700">
            <a:solidFill>
              <a:srgbClr val="2FA9FF">
                <a:alpha val="1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1320000">
            <a:off x="8650155" y="5005853"/>
            <a:ext cx="1130543" cy="1130543"/>
          </a:xfrm>
          <a:prstGeom prst="hexagon">
            <a:avLst/>
          </a:prstGeom>
          <a:ln w="12700">
            <a:solidFill>
              <a:srgbClr val="2FA9FF">
                <a:alpha val="1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2160000">
            <a:off x="1689711" y="5278698"/>
            <a:ext cx="1260585" cy="1260585"/>
          </a:xfrm>
          <a:prstGeom prst="hexagon">
            <a:avLst/>
          </a:prstGeom>
          <a:ln w="12700">
            <a:solidFill>
              <a:srgbClr val="2FA9FF">
                <a:alpha val="1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2820000">
            <a:off x="6016109" y="3327131"/>
            <a:ext cx="954123" cy="954123"/>
          </a:xfrm>
          <a:prstGeom prst="hexagon">
            <a:avLst/>
          </a:prstGeom>
          <a:ln w="12700">
            <a:solidFill>
              <a:srgbClr val="2FA9FF">
                <a:alpha val="1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1620000">
            <a:off x="8237529" y="5354267"/>
            <a:ext cx="1407779" cy="1407779"/>
          </a:xfrm>
          <a:prstGeom prst="hexagon">
            <a:avLst/>
          </a:prstGeom>
          <a:ln w="12700">
            <a:solidFill>
              <a:srgbClr val="2FA9FF">
                <a:alpha val="1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2040000">
            <a:off x="3301792" y="3374974"/>
            <a:ext cx="1515243" cy="1515243"/>
          </a:xfrm>
          <a:prstGeom prst="hexagon">
            <a:avLst/>
          </a:prstGeom>
          <a:ln w="12700">
            <a:solidFill>
              <a:srgbClr val="2FA9FF">
                <a:alpha val="1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120000">
            <a:off x="5653794" y="108255"/>
            <a:ext cx="712070" cy="712070"/>
          </a:xfrm>
          <a:prstGeom prst="hexagon">
            <a:avLst/>
          </a:prstGeom>
          <a:ln w="12700">
            <a:solidFill>
              <a:srgbClr val="2FA9FF">
                <a:alpha val="1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3420000">
            <a:off x="4121571" y="1558404"/>
            <a:ext cx="1210882" cy="1210882"/>
          </a:xfrm>
          <a:prstGeom prst="hexagon">
            <a:avLst/>
          </a:prstGeom>
          <a:ln w="12700">
            <a:solidFill>
              <a:srgbClr val="2FA9FF">
                <a:alpha val="1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1800000">
            <a:off x="3697524" y="2514295"/>
            <a:ext cx="482968" cy="482968"/>
          </a:xfrm>
          <a:prstGeom prst="hexagon">
            <a:avLst/>
          </a:prstGeom>
          <a:ln w="12700">
            <a:solidFill>
              <a:srgbClr val="2FA9FF">
                <a:alpha val="1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" y="1691640"/>
            <a:ext cx="7955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走った道が、</a:t>
            </a:r>
            <a:endParaRPr lang="en-US" sz="4400" dirty="0"/>
          </a:p>
          <a:p>
            <a:pPr algn="l" indent="0" marL="0">
              <a:lnSpc>
                <a:spcPts val="52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Yu Mincho Demibold" pitchFamily="34" charset="0"/>
                <a:ea typeface="Yu Mincho Demibold" pitchFamily="34" charset="-122"/>
                <a:cs typeface="Yu Mincho Demibold" pitchFamily="34" charset="-120"/>
              </a:rPr>
              <a:t>日本地図になっていく。</a:t>
            </a:r>
            <a:endParaRPr lang="en-US" sz="4400" dirty="0"/>
          </a:p>
        </p:txBody>
      </p:sp>
      <p:sp>
        <p:nvSpPr>
          <p:cNvPr id="31" name="Text 29"/>
          <p:cNvSpPr/>
          <p:nvPr/>
        </p:nvSpPr>
        <p:spPr>
          <a:xfrm>
            <a:off x="0" y="356616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KOKUDO</a:t>
            </a:r>
            <a:endParaRPr lang="en-US" sz="6400" dirty="0"/>
          </a:p>
        </p:txBody>
      </p:sp>
      <p:sp>
        <p:nvSpPr>
          <p:cNvPr id="32" name="Text 30"/>
          <p:cNvSpPr/>
          <p:nvPr/>
        </p:nvSpPr>
        <p:spPr>
          <a:xfrm>
            <a:off x="45720" y="47548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2FA9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これからも、国道を、走る。</a:t>
            </a:r>
            <a:endParaRPr lang="en-US" sz="2800" dirty="0"/>
          </a:p>
        </p:txBody>
      </p:sp>
      <p:sp>
        <p:nvSpPr>
          <p:cNvPr id="33" name="Shape 31"/>
          <p:cNvSpPr/>
          <p:nvPr/>
        </p:nvSpPr>
        <p:spPr>
          <a:xfrm>
            <a:off x="9326880" y="5120640"/>
            <a:ext cx="2103120" cy="1371600"/>
          </a:xfrm>
          <a:prstGeom prst="rect">
            <a:avLst/>
          </a:prstGeom>
          <a:solidFill>
            <a:srgbClr val="D9D9D9"/>
          </a:solidFill>
          <a:ln w="12700">
            <a:solidFill>
              <a:srgbClr val="BEBEB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26880" y="512064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[QR/連絡先 PLACEHOLDER]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KOKUDO 4分ピッチ資料</dc:title>
  <dc:subject>PptxGenJS Presentation</dc:subject>
  <dc:creator>KOKUDO Team</dc:creator>
  <cp:lastModifiedBy>KOKUDO Team</cp:lastModifiedBy>
  <cp:revision>1</cp:revision>
  <dcterms:created xsi:type="dcterms:W3CDTF">2026-09-15T13:57:09Z</dcterms:created>
  <dcterms:modified xsi:type="dcterms:W3CDTF">2026-09-15T13:57:09Z</dcterms:modified>
</cp:coreProperties>
</file>